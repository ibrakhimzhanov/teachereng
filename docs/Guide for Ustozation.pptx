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256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1497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85800"/>
            <a:ext cx="2743200" cy="0"/>
          </a:xfrm>
          <a:prstGeom prst="line">
            <a:avLst/>
          </a:prstGeom>
          <a:noFill/>
          <a:ln w="12700">
            <a:solidFill>
              <a:srgbClr val="BFA4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777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BF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 · MMXXVI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0" y="1463040"/>
            <a:ext cx="640080" cy="640080"/>
          </a:xfrm>
          <a:prstGeom prst="ellipse">
            <a:avLst/>
          </a:prstGeom>
          <a:solidFill>
            <a:srgbClr val="00152E"/>
          </a:solidFill>
          <a:ln w="19050">
            <a:solidFill>
              <a:srgbClr val="BFA4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FA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i="1" dirty="0">
                <a:solidFill>
                  <a:srgbClr val="F7F1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Ustozation English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57200" y="3749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1200" dirty="0">
                <a:solidFill>
                  <a:srgbClr val="BF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Teacher Assistant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794760" y="4572000"/>
            <a:ext cx="1828800" cy="0"/>
          </a:xfrm>
          <a:prstGeom prst="line">
            <a:avLst/>
          </a:prstGeom>
          <a:noFill/>
          <a:ln w="9525">
            <a:solidFill>
              <a:srgbClr val="BFA4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16752" y="4517136"/>
            <a:ext cx="128016" cy="128016"/>
          </a:xfrm>
          <a:prstGeom prst="ellipse">
            <a:avLst/>
          </a:prstGeom>
          <a:solidFill>
            <a:srgbClr val="BFA44C"/>
          </a:solidFill>
          <a:ln w="12700">
            <a:solidFill>
              <a:srgbClr val="BFA44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4572000"/>
            <a:ext cx="1828800" cy="0"/>
          </a:xfrm>
          <a:prstGeom prst="line">
            <a:avLst/>
          </a:prstGeom>
          <a:noFill/>
          <a:ln w="9525">
            <a:solidFill>
              <a:srgbClr val="BFA4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846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800" dirty="0">
                <a:solidFill>
                  <a:srgbClr val="F7F1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USTOZ UCHUN QO'LLANMA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53492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A0A8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practical guide to the word-of-the-day workflow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51960" y="6217920"/>
            <a:ext cx="3657600" cy="0"/>
          </a:xfrm>
          <a:prstGeom prst="line">
            <a:avLst/>
          </a:prstGeom>
          <a:noFill/>
          <a:ln w="6350">
            <a:solidFill>
              <a:srgbClr val="BFA4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600" dirty="0">
                <a:solidFill>
                  <a:srgbClr val="BF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VOL. I · THE OXFORD METHOD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BF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002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 nima qiladi?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1828800" cy="0"/>
          </a:xfrm>
          <a:prstGeom prst="line">
            <a:avLst/>
          </a:prstGeom>
          <a:noFill/>
          <a:ln w="9525">
            <a:solidFill>
              <a:srgbClr val="BFA4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574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 o'quvchilarning ingliz tilidagi gaplarini sharh oqimida avtomatik tekshirib, </a:t>
            </a:r>
            <a:r>
              <a:rPr lang="en-US" sz="1500" i="1" dirty="0" err="1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tabiiy</a:t>
            </a:r>
            <a:r>
              <a:rPr lang="en-US" sz="15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o'zbek </a:t>
            </a:r>
            <a:r>
              <a:rPr lang="en-US" sz="1500" i="1" dirty="0" err="1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tilida</a:t>
            </a:r>
            <a:r>
              <a:rPr lang="en-US" sz="15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500" i="1" dirty="0" err="1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javob</a:t>
            </a:r>
            <a:r>
              <a:rPr lang="en-US" sz="15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500" i="1" dirty="0" err="1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beradi</a:t>
            </a:r>
            <a:r>
              <a:rPr lang="en-US" sz="15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- ustozning </a:t>
            </a:r>
            <a:r>
              <a:rPr lang="en-US" sz="1500" i="1" dirty="0" err="1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kunlik</a:t>
            </a:r>
            <a:r>
              <a:rPr lang="en-US" sz="15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500" i="1" dirty="0" err="1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ishini</a:t>
            </a:r>
            <a:r>
              <a:rPr lang="en-US" sz="15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sezilarli kamaytiradi.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11480" y="3108960"/>
            <a:ext cx="3566160" cy="3017520"/>
          </a:xfrm>
          <a:prstGeom prst="rect">
            <a:avLst/>
          </a:prstGeom>
          <a:solidFill>
            <a:srgbClr val="FBF7EC"/>
          </a:solidFill>
          <a:ln w="9525">
            <a:solidFill>
              <a:srgbClr val="BFA4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33832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i="1" dirty="0">
                <a:solidFill>
                  <a:srgbClr val="BFA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1874520" y="4343400"/>
            <a:ext cx="640080" cy="0"/>
          </a:xfrm>
          <a:prstGeom prst="line">
            <a:avLst/>
          </a:prstGeom>
          <a:noFill/>
          <a:ln w="9525">
            <a:solidFill>
              <a:srgbClr val="0021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480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2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Postni o'qiydi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" y="49834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Kanaldagi postdagi hashtag orqali kun so'zini aniqlaydi.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3108960"/>
            <a:ext cx="3566160" cy="3017520"/>
          </a:xfrm>
          <a:prstGeom prst="rect">
            <a:avLst/>
          </a:prstGeom>
          <a:solidFill>
            <a:srgbClr val="FBF7EC"/>
          </a:solidFill>
          <a:ln w="9525">
            <a:solidFill>
              <a:srgbClr val="BFA4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33832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i="1" dirty="0">
                <a:solidFill>
                  <a:srgbClr val="BFA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4800" dirty="0"/>
          </a:p>
        </p:txBody>
      </p:sp>
      <p:sp>
        <p:nvSpPr>
          <p:cNvPr id="13" name="Shape 11"/>
          <p:cNvSpPr/>
          <p:nvPr/>
        </p:nvSpPr>
        <p:spPr>
          <a:xfrm>
            <a:off x="5760720" y="4343400"/>
            <a:ext cx="640080" cy="0"/>
          </a:xfrm>
          <a:prstGeom prst="line">
            <a:avLst/>
          </a:prstGeom>
          <a:noFill/>
          <a:ln w="9525">
            <a:solidFill>
              <a:srgbClr val="0021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4480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2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Sharhni tekshiradi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0" y="49834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Grammatika va so'zning to'g'ri ma'noda ishlatilganini baholaydi.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83880" y="3108960"/>
            <a:ext cx="3566160" cy="3017520"/>
          </a:xfrm>
          <a:prstGeom prst="rect">
            <a:avLst/>
          </a:prstGeom>
          <a:solidFill>
            <a:srgbClr val="FBF7EC"/>
          </a:solidFill>
          <a:ln w="9525">
            <a:solidFill>
              <a:srgbClr val="BFA4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83880" y="33832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i="1" dirty="0">
                <a:solidFill>
                  <a:srgbClr val="BFA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4800" dirty="0"/>
          </a:p>
        </p:txBody>
      </p:sp>
      <p:sp>
        <p:nvSpPr>
          <p:cNvPr id="18" name="Shape 16"/>
          <p:cNvSpPr/>
          <p:nvPr/>
        </p:nvSpPr>
        <p:spPr>
          <a:xfrm>
            <a:off x="9646920" y="4343400"/>
            <a:ext cx="640080" cy="0"/>
          </a:xfrm>
          <a:prstGeom prst="line">
            <a:avLst/>
          </a:prstGeom>
          <a:noFill/>
          <a:ln w="9525">
            <a:solidFill>
              <a:srgbClr val="0021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58200" y="4480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2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Javob yozadi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458200" y="49834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Maqtov yoki to'g'ri variant + o'zbek tilida qisqa izoh beradi.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6309360"/>
            <a:ext cx="548640" cy="0"/>
          </a:xfrm>
          <a:prstGeom prst="line">
            <a:avLst/>
          </a:prstGeom>
          <a:noFill/>
          <a:ln w="15240">
            <a:solidFill>
              <a:srgbClr val="BFA4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6172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5B5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USTOZATION · AI TEACHER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64240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BF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BF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II ·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002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Postni e'lon qilish: 1-variant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1828800" cy="0"/>
          </a:xfrm>
          <a:prstGeom prst="line">
            <a:avLst/>
          </a:prstGeom>
          <a:noFill/>
          <a:ln w="9525">
            <a:solidFill>
              <a:srgbClr val="BFA4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202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 ishonchli </a:t>
            </a:r>
            <a:r>
              <a:rPr lang="en-US" sz="1700" i="1" dirty="0" err="1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yo'l</a:t>
            </a:r>
            <a:r>
              <a:rPr lang="en-US" sz="17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- postga aniq marker qo'shish.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2697480"/>
            <a:ext cx="5486400" cy="3200400"/>
          </a:xfrm>
          <a:prstGeom prst="rect">
            <a:avLst/>
          </a:prstGeom>
          <a:solidFill>
            <a:srgbClr val="002147"/>
          </a:solidFill>
          <a:ln w="12700">
            <a:solidFill>
              <a:srgbClr val="BFA4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697480"/>
            <a:ext cx="109728" cy="3200400"/>
          </a:xfrm>
          <a:prstGeom prst="rect">
            <a:avLst/>
          </a:prstGeom>
          <a:solidFill>
            <a:srgbClr val="BFA44C"/>
          </a:solidFill>
          <a:ln w="12700">
            <a:solidFill>
              <a:srgbClr val="BFA4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2834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BF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 SAMPLE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3154680"/>
            <a:ext cx="4937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E8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#word_leverage</a:t>
            </a:r>
            <a:endParaRPr lang="en-US" sz="2200" dirty="0"/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2200" dirty="0"/>
          </a:p>
          <a:p>
            <a:pPr marL="0" indent="0">
              <a:buNone/>
            </a:pPr>
            <a:r>
              <a:rPr lang="en-US" sz="1500" i="1" dirty="0">
                <a:solidFill>
                  <a:srgbClr val="F7F1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Bugun "leverage" so'zini </a:t>
            </a:r>
            <a:r>
              <a:rPr lang="en-US" sz="1500" i="1" dirty="0" err="1">
                <a:solidFill>
                  <a:srgbClr val="F7F1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o'rganamiz</a:t>
            </a:r>
            <a:r>
              <a:rPr lang="en-US" sz="1500" i="1" dirty="0">
                <a:solidFill>
                  <a:srgbClr val="F7F1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-</a:t>
            </a:r>
            <a:endParaRPr lang="en-US" sz="2200" dirty="0"/>
          </a:p>
          <a:p>
            <a:pPr marL="0" indent="0">
              <a:buNone/>
            </a:pPr>
            <a:r>
              <a:rPr lang="en-US" sz="1500" i="1" dirty="0">
                <a:solidFill>
                  <a:srgbClr val="F7F1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foyda uchun ishlatmoq, ustunlikka aylantirmoq.</a:t>
            </a:r>
            <a:endParaRPr lang="en-US" sz="22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 </a:t>
            </a:r>
            <a:endParaRPr lang="en-US" sz="2200" dirty="0"/>
          </a:p>
          <a:p>
            <a:pPr marL="0" indent="0">
              <a:buNone/>
            </a:pPr>
            <a:r>
              <a:rPr lang="en-US" sz="1300" i="1" dirty="0">
                <a:solidFill>
                  <a:srgbClr val="A0A8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Gap tuzing, tekshirib beramiz.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766560" y="2697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BF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NIMA UCHUN MARKER?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66560" y="30175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 ushbu formatni 100% ishonchli topa oladi va ikki xil so'zni aralashtirib yubormaydi.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66560" y="4114800"/>
            <a:ext cx="914400" cy="0"/>
          </a:xfrm>
          <a:prstGeom prst="line">
            <a:avLst/>
          </a:prstGeom>
          <a:noFill/>
          <a:ln w="9525">
            <a:solidFill>
              <a:srgbClr val="BFA4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4251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BF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QOIDA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66560" y="452628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Marker </a:t>
            </a:r>
            <a:r>
              <a:rPr lang="en-US" sz="1400" b="1" dirty="0">
                <a:solidFill>
                  <a:srgbClr val="0021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#word_</a:t>
            </a:r>
            <a:r>
              <a:rPr lang="en-US" sz="14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prefiksi bilan boshlanadi, so'ngra o'rganilayotgan so'z keladi.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6309360"/>
            <a:ext cx="548640" cy="0"/>
          </a:xfrm>
          <a:prstGeom prst="line">
            <a:avLst/>
          </a:prstGeom>
          <a:noFill/>
          <a:ln w="15240">
            <a:solidFill>
              <a:srgbClr val="BFA4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80160" y="6172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5B5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USTOZATION · AI TEACHER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64240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BF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BF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II ·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002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Postni e'lon qilish: 2-variant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1828800" cy="0"/>
          </a:xfrm>
          <a:prstGeom prst="line">
            <a:avLst/>
          </a:prstGeom>
          <a:noFill/>
          <a:ln w="9525">
            <a:solidFill>
              <a:srgbClr val="BFA4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202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Agar postda faqat bitta hashtag bo'lsa, u avtomatik ravishda kun so'zi deb qabul qilinadi.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68680" y="2743200"/>
            <a:ext cx="4937760" cy="3200400"/>
          </a:xfrm>
          <a:prstGeom prst="rect">
            <a:avLst/>
          </a:prstGeom>
          <a:solidFill>
            <a:srgbClr val="002147"/>
          </a:solidFill>
          <a:ln w="12700">
            <a:solidFill>
              <a:srgbClr val="BFA4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743200"/>
            <a:ext cx="109728" cy="3200400"/>
          </a:xfrm>
          <a:prstGeom prst="rect">
            <a:avLst/>
          </a:prstGeom>
          <a:solidFill>
            <a:srgbClr val="BFA44C"/>
          </a:solidFill>
          <a:ln w="12700">
            <a:solidFill>
              <a:srgbClr val="BFA4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BF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MISOL 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34440" y="32918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9E8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#Leverage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234440" y="4297680"/>
            <a:ext cx="457200" cy="0"/>
          </a:xfrm>
          <a:prstGeom prst="line">
            <a:avLst/>
          </a:prstGeom>
          <a:noFill/>
          <a:ln w="9525">
            <a:solidFill>
              <a:srgbClr val="BFA4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443484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7F1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Ushbu so'zga gap tuzing. Tekshirib berish bizdan.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55080" y="2743200"/>
            <a:ext cx="4937760" cy="3200400"/>
          </a:xfrm>
          <a:prstGeom prst="rect">
            <a:avLst/>
          </a:prstGeom>
          <a:solidFill>
            <a:srgbClr val="002147"/>
          </a:solidFill>
          <a:ln w="12700">
            <a:solidFill>
              <a:srgbClr val="BFA44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5080" y="2743200"/>
            <a:ext cx="109728" cy="3200400"/>
          </a:xfrm>
          <a:prstGeom prst="rect">
            <a:avLst/>
          </a:prstGeom>
          <a:solidFill>
            <a:srgbClr val="BFA44C"/>
          </a:solidFill>
          <a:ln w="12700">
            <a:solidFill>
              <a:srgbClr val="BFA4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BF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MISOL B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720840" y="32918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9E8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#give_up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6720840" y="4297680"/>
            <a:ext cx="457200" cy="0"/>
          </a:xfrm>
          <a:prstGeom prst="line">
            <a:avLst/>
          </a:prstGeom>
          <a:noFill/>
          <a:ln w="9525">
            <a:solidFill>
              <a:srgbClr val="BFA4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443484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7F1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sentences using this phrasal verb.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60121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5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 hashtag matnini kun so'zi sifatida qabul qiladi. Katta/kichik harf farqsiz.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6537960"/>
            <a:ext cx="548640" cy="0"/>
          </a:xfrm>
          <a:prstGeom prst="line">
            <a:avLst/>
          </a:prstGeom>
          <a:noFill/>
          <a:ln w="15240">
            <a:solidFill>
              <a:srgbClr val="BFA4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01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5B5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USTOZATION · AI TEACHER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64240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BF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BF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III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002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Ko'p so'zli iboralar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1828800" cy="0"/>
          </a:xfrm>
          <a:prstGeom prst="line">
            <a:avLst/>
          </a:prstGeom>
          <a:noFill/>
          <a:ln w="9525">
            <a:solidFill>
              <a:srgbClr val="BFA4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202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Telegram hashtaglari bo'sh joyni qabul </a:t>
            </a:r>
            <a:r>
              <a:rPr lang="en-US" sz="1500" i="1" dirty="0" err="1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qilmaydi</a:t>
            </a:r>
            <a:r>
              <a:rPr lang="en-US" sz="15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- shu sababli ko'p so'zli iboralarni pastki chiziq orqali yozamiz.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423159"/>
            <a:ext cx="10515600" cy="502920"/>
          </a:xfrm>
          <a:prstGeom prst="rect">
            <a:avLst/>
          </a:prstGeom>
          <a:solidFill>
            <a:srgbClr val="002147"/>
          </a:solidFill>
          <a:ln w="12700">
            <a:solidFill>
              <a:srgbClr val="0021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514599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BF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HASHTAG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06240" y="2514599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BF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MAQSADLI IBORA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675120" y="2514599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BF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MA'NOSI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926079"/>
            <a:ext cx="10515600" cy="685800"/>
          </a:xfrm>
          <a:prstGeom prst="rect">
            <a:avLst/>
          </a:prstGeom>
          <a:solidFill>
            <a:srgbClr val="FBF7EC"/>
          </a:solidFill>
          <a:ln w="12700">
            <a:solidFill>
              <a:srgbClr val="FBF7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926079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21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#word_look_up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0" y="2926079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BFA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206240" y="2926079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 up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675120" y="2926079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5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so'zni izlash, lug'atda topish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3611879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21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#word_give_up_on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57600" y="3611879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BFA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206240" y="3611879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give up 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675120" y="3611879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5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kimdan / nimadan umid uzmoq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4297679"/>
            <a:ext cx="10515600" cy="685800"/>
          </a:xfrm>
          <a:prstGeom prst="rect">
            <a:avLst/>
          </a:prstGeom>
          <a:solidFill>
            <a:srgbClr val="FBF7EC"/>
          </a:solidFill>
          <a:ln w="12700">
            <a:solidFill>
              <a:srgbClr val="FBF7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297679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21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#word_run_out_of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657600" y="4297679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BFA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206240" y="4297679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out of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675120" y="4297679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5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nimanidir tugatib qo'ymoq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4983479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21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#word_break_down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657600" y="4983479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BFA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206240" y="4983479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 down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675120" y="4983479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5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ishdan chiqmoq, buzilmoq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31520" y="5669279"/>
            <a:ext cx="10515600" cy="0"/>
          </a:xfrm>
          <a:prstGeom prst="line">
            <a:avLst/>
          </a:prstGeom>
          <a:noFill/>
          <a:ln w="9525">
            <a:solidFill>
              <a:srgbClr val="BFA4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0396" y="56235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 err="1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Qoida</a:t>
            </a:r>
            <a:r>
              <a:rPr lang="en-US" sz="13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</a:t>
            </a:r>
            <a:r>
              <a:rPr lang="en-US" sz="1300" i="1" dirty="0" err="1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bo'sh</a:t>
            </a:r>
            <a:r>
              <a:rPr lang="en-US" sz="13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joy </a:t>
            </a:r>
            <a:r>
              <a:rPr lang="en-US" sz="1300" i="1" dirty="0" err="1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o'rniga</a:t>
            </a:r>
            <a:r>
              <a:rPr lang="en-US" sz="13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300" i="1" dirty="0" err="1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pastki</a:t>
            </a:r>
            <a:r>
              <a:rPr lang="en-US" sz="13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300" i="1" dirty="0" err="1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chiziq</a:t>
            </a:r>
            <a:r>
              <a:rPr lang="en-US" sz="13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Bot </a:t>
            </a:r>
            <a:r>
              <a:rPr lang="en-US" sz="1300" i="1" dirty="0" err="1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o'zi</a:t>
            </a:r>
            <a:r>
              <a:rPr lang="en-US" sz="13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300" i="1" dirty="0" err="1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</a:t>
            </a:r>
            <a:r>
              <a:rPr lang="en-US" sz="13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300" i="1" dirty="0" err="1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bo'sh</a:t>
            </a:r>
            <a:r>
              <a:rPr lang="en-US" sz="13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300" i="1" dirty="0" err="1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joyga</a:t>
            </a:r>
            <a:r>
              <a:rPr lang="en-US" sz="13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300" i="1" dirty="0" err="1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aylantirib</a:t>
            </a:r>
            <a:r>
              <a:rPr lang="en-US" sz="13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300" i="1" dirty="0" err="1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beradi</a:t>
            </a:r>
            <a:r>
              <a:rPr lang="en-US" sz="13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57062" y="6472988"/>
            <a:ext cx="548640" cy="0"/>
          </a:xfrm>
          <a:prstGeom prst="line">
            <a:avLst/>
          </a:prstGeom>
          <a:noFill/>
          <a:ln w="15240">
            <a:solidFill>
              <a:srgbClr val="BFA4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80160" y="6355079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5B5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USTOZATION · AI TEACHER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064240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BF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 bwMode="auto"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BF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IV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002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Nimadan qochish kerak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1828800" cy="0"/>
          </a:xfrm>
          <a:prstGeom prst="line">
            <a:avLst/>
          </a:prstGeom>
          <a:noFill/>
          <a:ln w="9525">
            <a:solidFill>
              <a:srgbClr val="BFA4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202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Uchta xato bot ishlashini </a:t>
            </a:r>
            <a:r>
              <a:rPr lang="en-US" sz="1500" i="1" dirty="0" err="1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buzadi</a:t>
            </a:r>
            <a:r>
              <a:rPr lang="en-US" sz="15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- quyida ularning ko'rinishi va tuzatilishi.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3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✕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34440" y="27432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3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#english  #vocabulary  #leverage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32004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Ko'p hashtag - qaysi biri maqsad?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77840" y="2834640"/>
            <a:ext cx="0" cy="822960"/>
          </a:xfrm>
          <a:prstGeom prst="line">
            <a:avLst/>
          </a:prstGeom>
          <a:noFill/>
          <a:ln w="6350">
            <a:solidFill>
              <a:srgbClr val="BFA4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0" y="2788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F6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263640" y="27432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F6E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#word_leverage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63640" y="32004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Bitta aniq marker.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840480"/>
            <a:ext cx="10698480" cy="0"/>
          </a:xfrm>
          <a:prstGeom prst="line">
            <a:avLst/>
          </a:prstGeom>
          <a:noFill/>
          <a:ln w="3810">
            <a:solidFill>
              <a:srgbClr val="D8BE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977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3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✕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34440" y="39319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3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(hech qanday hashtag yo'q)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43891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Hashtagsiz post - bot e'tibor bermaydi.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577840" y="4023360"/>
            <a:ext cx="0" cy="822960"/>
          </a:xfrm>
          <a:prstGeom prst="line">
            <a:avLst/>
          </a:prstGeom>
          <a:noFill/>
          <a:ln w="6350">
            <a:solidFill>
              <a:srgbClr val="BFA4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3977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F6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263640" y="39319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F6E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#Leverage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63640" y="43891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Oddiygina bitta hashtag yetarli.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5029200"/>
            <a:ext cx="10698480" cy="0"/>
          </a:xfrm>
          <a:prstGeom prst="line">
            <a:avLst/>
          </a:prstGeom>
          <a:noFill/>
          <a:ln w="3810">
            <a:solidFill>
              <a:srgbClr val="D8BE6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5166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3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✕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234440" y="51206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3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#so'z_o'rganing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34440" y="55778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Maqsad so'z ingliz tilida bo'lmasa, bot tekshira olmaydi.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577840" y="5212080"/>
            <a:ext cx="0" cy="822960"/>
          </a:xfrm>
          <a:prstGeom prst="line">
            <a:avLst/>
          </a:prstGeom>
          <a:noFill/>
          <a:ln w="6350">
            <a:solidFill>
              <a:srgbClr val="BFA4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0" y="5166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F6E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263640" y="51206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F6E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#word_learn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263640" y="55778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Ingliz tilidagi so'z.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6309360"/>
            <a:ext cx="548640" cy="0"/>
          </a:xfrm>
          <a:prstGeom prst="line">
            <a:avLst/>
          </a:prstGeom>
          <a:noFill/>
          <a:ln w="15240">
            <a:solidFill>
              <a:srgbClr val="BFA44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80160" y="6172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5B5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USTOZATION · AI TEACHER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64240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BF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BF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002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 qanday javob beradi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1828800" cy="0"/>
          </a:xfrm>
          <a:prstGeom prst="line">
            <a:avLst/>
          </a:prstGeom>
          <a:noFill/>
          <a:ln w="9525">
            <a:solidFill>
              <a:srgbClr val="BFA4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202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 har bir sharhni tekshirib, vaziyatga qarab tabiiy o'zbek tilida javob beradi.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651760"/>
            <a:ext cx="10515600" cy="457200"/>
          </a:xfrm>
          <a:prstGeom prst="rect">
            <a:avLst/>
          </a:prstGeom>
          <a:solidFill>
            <a:srgbClr val="002147"/>
          </a:solidFill>
          <a:ln w="12700">
            <a:solidFill>
              <a:srgbClr val="0021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743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BF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VAZIYAT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52160" y="2743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BF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REAKSIYA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3108960"/>
            <a:ext cx="10515600" cy="530352"/>
          </a:xfrm>
          <a:prstGeom prst="rect">
            <a:avLst/>
          </a:prstGeom>
          <a:solidFill>
            <a:srgbClr val="FBF7EC"/>
          </a:solidFill>
          <a:ln w="12700">
            <a:solidFill>
              <a:srgbClr val="FBF7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10896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Gap to'g'ri, so'z ishlatilgan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852160" y="3108960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Qisqa, iliq </a:t>
            </a:r>
            <a:r>
              <a:rPr lang="en-US" sz="1200" dirty="0" err="1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maqtov</a:t>
            </a:r>
            <a:r>
              <a:rPr lang="en-US" sz="1200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- har safar boshqacha formulirovka.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3639312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Grammatik xato bor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852160" y="3639312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To'g'ri variant (inglizcha) + o'zbek tilida qisqa tushuntirish.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4169664"/>
            <a:ext cx="10515600" cy="530352"/>
          </a:xfrm>
          <a:prstGeom prst="rect">
            <a:avLst/>
          </a:prstGeom>
          <a:solidFill>
            <a:srgbClr val="FBF7EC"/>
          </a:solidFill>
          <a:ln w="12700">
            <a:solidFill>
              <a:srgbClr val="FBF7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169664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So'z noto'g'ri ma'noda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852160" y="4169664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 belgilab, to'g'ri kontekstda misol keltiradi.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4700016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So'z umuman ishlatilmagan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852160" y="4700016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Yumshoq eslatma + gap namunasi.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5230368"/>
            <a:ext cx="10515600" cy="530352"/>
          </a:xfrm>
          <a:prstGeom prst="rect">
            <a:avLst/>
          </a:prstGeom>
          <a:solidFill>
            <a:srgbClr val="FBF7EC"/>
          </a:solidFill>
          <a:ln w="12700">
            <a:solidFill>
              <a:srgbClr val="FBF7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5230368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Sharh o'zbek yoki rus tilida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52160" y="5230368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Jim kuzatadi, javob bermaydi.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576072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Qo'pol yoki mavzudan chetda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52160" y="5760720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Jim kuzatadi, aralashmaydi.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2960" y="6291072"/>
            <a:ext cx="10515600" cy="0"/>
          </a:xfrm>
          <a:prstGeom prst="line">
            <a:avLst/>
          </a:prstGeom>
          <a:noFill/>
          <a:ln w="9525">
            <a:solidFill>
              <a:srgbClr val="BFA44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6309360"/>
            <a:ext cx="548640" cy="0"/>
          </a:xfrm>
          <a:prstGeom prst="line">
            <a:avLst/>
          </a:prstGeom>
          <a:noFill/>
          <a:ln w="15240">
            <a:solidFill>
              <a:srgbClr val="BFA4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8016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5B5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USTOZATION · AI TEACHER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064240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BF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BF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VI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002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Dastlabki sozlash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1828800" cy="0"/>
          </a:xfrm>
          <a:prstGeom prst="line">
            <a:avLst/>
          </a:prstGeom>
          <a:noFill/>
          <a:ln w="9525">
            <a:solidFill>
              <a:srgbClr val="BFA4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202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 ishga tushishi uchun bir martalik uchta shart bajariladi.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i="1" dirty="0">
                <a:solidFill>
                  <a:srgbClr val="BFA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I.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828800" y="278892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Kanal admini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828800" y="3246120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 kanalda admin sifatida </a:t>
            </a:r>
            <a:r>
              <a:rPr lang="en-US" sz="1300" dirty="0" err="1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qo'shilsin</a:t>
            </a:r>
            <a:r>
              <a:rPr lang="en-US" sz="1300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- post matnini o'qiy oladi.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840480"/>
            <a:ext cx="10515600" cy="0"/>
          </a:xfrm>
          <a:prstGeom prst="line">
            <a:avLst/>
          </a:prstGeom>
          <a:noFill/>
          <a:ln w="5080">
            <a:solidFill>
              <a:srgbClr val="D8BE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0233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i="1" dirty="0">
                <a:solidFill>
                  <a:srgbClr val="BFA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II.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828800" y="402336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Sharh guruhida admin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828800" y="4480560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Kanalga bog'langan sharh-guruhda ham admin </a:t>
            </a:r>
            <a:r>
              <a:rPr lang="en-US" sz="1300" dirty="0" err="1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qilinadi</a:t>
            </a:r>
            <a:r>
              <a:rPr lang="en-US" sz="1300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- sharhlarni o'qish va ularga javob berish uchun.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5074920"/>
            <a:ext cx="10515600" cy="0"/>
          </a:xfrm>
          <a:prstGeom prst="line">
            <a:avLst/>
          </a:prstGeom>
          <a:noFill/>
          <a:ln w="5080">
            <a:solidFill>
              <a:srgbClr val="D8BE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2578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i="1" dirty="0">
                <a:solidFill>
                  <a:srgbClr val="BFA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III.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1828800" y="525780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2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Privacy off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828800" y="5715000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@BotFather da: /setprivacy → bot tanlanadi → Disable. Shundan so'ng bot guruhda faqat /buyruqlarni emas, har bir sharhni ham ko'radi.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6492240"/>
            <a:ext cx="548640" cy="0"/>
          </a:xfrm>
          <a:prstGeom prst="line">
            <a:avLst/>
          </a:prstGeom>
          <a:noFill/>
          <a:ln w="15240">
            <a:solidFill>
              <a:srgbClr val="BFA4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80160" y="6364705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5B5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USTOZATION · AI TEACHER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64240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BF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BF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VII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7F1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Haftalik hisobot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1828800" cy="0"/>
          </a:xfrm>
          <a:prstGeom prst="line">
            <a:avLst/>
          </a:prstGeom>
          <a:noFill/>
          <a:ln w="9525">
            <a:solidFill>
              <a:srgbClr val="BFA4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286000"/>
            <a:ext cx="5303520" cy="3931920"/>
          </a:xfrm>
          <a:prstGeom prst="rect">
            <a:avLst/>
          </a:prstGeom>
          <a:solidFill>
            <a:srgbClr val="00152E"/>
          </a:solidFill>
          <a:ln w="9525">
            <a:solidFill>
              <a:srgbClr val="BFA4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2560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800" dirty="0">
                <a:solidFill>
                  <a:srgbClr val="BF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 YAKSHANBA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301752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0" i="1" dirty="0">
                <a:solidFill>
                  <a:srgbClr val="F7F1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20:00</a:t>
            </a:r>
            <a:endParaRPr lang="en-US" sz="11000" dirty="0"/>
          </a:p>
        </p:txBody>
      </p:sp>
      <p:sp>
        <p:nvSpPr>
          <p:cNvPr id="8" name="Shape 6"/>
          <p:cNvSpPr/>
          <p:nvPr/>
        </p:nvSpPr>
        <p:spPr>
          <a:xfrm>
            <a:off x="3017520" y="4754880"/>
            <a:ext cx="914400" cy="0"/>
          </a:xfrm>
          <a:prstGeom prst="line">
            <a:avLst/>
          </a:prstGeom>
          <a:noFill/>
          <a:ln w="6350">
            <a:solidFill>
              <a:srgbClr val="BFA4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4846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600" dirty="0">
                <a:solidFill>
                  <a:srgbClr val="BF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TOSHKENT VAQTI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5394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A0A8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 sizga shaxsiy xabar yuboradi.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2286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BF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NIMALAR KIRADI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27432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i="1" dirty="0">
                <a:solidFill>
                  <a:srgbClr val="BFA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315200" y="28346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7F1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Jami tekshirilgan gaplar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0" y="3401568"/>
            <a:ext cx="4937760" cy="0"/>
          </a:xfrm>
          <a:prstGeom prst="line">
            <a:avLst/>
          </a:prstGeom>
          <a:noFill/>
          <a:ln w="3810">
            <a:solidFill>
              <a:srgbClr val="BFA4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35204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i="1" dirty="0">
                <a:solidFill>
                  <a:srgbClr val="BFA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315200" y="36118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7F1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To'g'ri javoblar foizi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0" y="4178808"/>
            <a:ext cx="4937760" cy="0"/>
          </a:xfrm>
          <a:prstGeom prst="line">
            <a:avLst/>
          </a:prstGeom>
          <a:noFill/>
          <a:ln w="3810">
            <a:solidFill>
              <a:srgbClr val="BFA4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42976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i="1" dirty="0">
                <a:solidFill>
                  <a:srgbClr val="BFA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315200" y="4389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7F1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 foizi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0" y="4956048"/>
            <a:ext cx="4937760" cy="0"/>
          </a:xfrm>
          <a:prstGeom prst="line">
            <a:avLst/>
          </a:prstGeom>
          <a:noFill/>
          <a:ln w="3810">
            <a:solidFill>
              <a:srgbClr val="BFA4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50749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i="1" dirty="0">
                <a:solidFill>
                  <a:srgbClr val="BFA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315200" y="51663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7F1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Haftaning eng ko'p uch so'zi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6492240"/>
            <a:ext cx="548640" cy="0"/>
          </a:xfrm>
          <a:prstGeom prst="line">
            <a:avLst/>
          </a:prstGeom>
          <a:noFill/>
          <a:ln w="15240">
            <a:solidFill>
              <a:srgbClr val="BFA4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8016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A0A8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USTOZATION · AI TEACHER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64240" y="6355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BF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1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BF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002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Boshlash </a:t>
            </a:r>
            <a:r>
              <a:rPr lang="en-US" sz="3400" dirty="0" err="1">
                <a:solidFill>
                  <a:srgbClr val="002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uchun</a:t>
            </a:r>
            <a:r>
              <a:rPr lang="en-US" sz="3400" dirty="0">
                <a:solidFill>
                  <a:srgbClr val="002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- tezkor test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1828800" cy="0"/>
          </a:xfrm>
          <a:prstGeom prst="line">
            <a:avLst/>
          </a:prstGeom>
          <a:noFill/>
          <a:ln w="9525">
            <a:solidFill>
              <a:srgbClr val="BFA4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202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Quyidagi 5 qadam orqali bot </a:t>
            </a:r>
            <a:r>
              <a:rPr lang="en-US" sz="1500" i="1" dirty="0" err="1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ishini</a:t>
            </a:r>
            <a:r>
              <a:rPr lang="en-US" sz="15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500" i="1" dirty="0" err="1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ipidan-ignasigacha</a:t>
            </a:r>
            <a:r>
              <a:rPr lang="en-US" sz="15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tekshiring.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788920"/>
            <a:ext cx="548640" cy="548640"/>
          </a:xfrm>
          <a:prstGeom prst="ellipse">
            <a:avLst/>
          </a:prstGeom>
          <a:solidFill>
            <a:srgbClr val="002147"/>
          </a:solidFill>
          <a:ln w="15240">
            <a:solidFill>
              <a:srgbClr val="BFA4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BFA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45920" y="27706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2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Kanalga post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0" y="2770632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#word_leverage bilan yangi post chiqaring.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645920" y="3429000"/>
            <a:ext cx="9692640" cy="0"/>
          </a:xfrm>
          <a:prstGeom prst="line">
            <a:avLst/>
          </a:prstGeom>
          <a:noFill/>
          <a:ln w="3810">
            <a:solidFill>
              <a:srgbClr val="D8BE6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566160"/>
            <a:ext cx="548640" cy="548640"/>
          </a:xfrm>
          <a:prstGeom prst="ellipse">
            <a:avLst/>
          </a:prstGeom>
          <a:solidFill>
            <a:srgbClr val="002147"/>
          </a:solidFill>
          <a:ln w="15240">
            <a:solidFill>
              <a:srgbClr val="BFA4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566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BFA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45920" y="35478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2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Sharh yozing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029200" y="3547872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leverage my skills to grow faster.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645920" y="4206240"/>
            <a:ext cx="9692640" cy="0"/>
          </a:xfrm>
          <a:prstGeom prst="line">
            <a:avLst/>
          </a:prstGeom>
          <a:noFill/>
          <a:ln w="3810">
            <a:solidFill>
              <a:srgbClr val="D8BE6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343400"/>
            <a:ext cx="548640" cy="548640"/>
          </a:xfrm>
          <a:prstGeom prst="ellipse">
            <a:avLst/>
          </a:prstGeom>
          <a:solidFill>
            <a:srgbClr val="002147"/>
          </a:solidFill>
          <a:ln w="15240">
            <a:solidFill>
              <a:srgbClr val="BFA4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BFA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45920" y="43251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2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Javobni kuting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029200" y="4325112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Bir necha </a:t>
            </a:r>
            <a:r>
              <a:rPr lang="en-US" sz="1300" dirty="0" err="1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soniya</a:t>
            </a:r>
            <a:r>
              <a:rPr lang="en-US" sz="1300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- bot maqtov bilan javob beradi.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645920" y="4983480"/>
            <a:ext cx="9692640" cy="0"/>
          </a:xfrm>
          <a:prstGeom prst="line">
            <a:avLst/>
          </a:prstGeom>
          <a:noFill/>
          <a:ln w="3810">
            <a:solidFill>
              <a:srgbClr val="D8BE6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5120640"/>
            <a:ext cx="548640" cy="548640"/>
          </a:xfrm>
          <a:prstGeom prst="ellipse">
            <a:avLst/>
          </a:prstGeom>
          <a:solidFill>
            <a:srgbClr val="002147"/>
          </a:solidFill>
          <a:ln w="15240">
            <a:solidFill>
              <a:srgbClr val="BFA4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120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BFA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645920" y="51023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2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Xato bilan sharh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029200" y="5102352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leveraging my English - ataylab xato.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645920" y="5760720"/>
            <a:ext cx="9692640" cy="0"/>
          </a:xfrm>
          <a:prstGeom prst="line">
            <a:avLst/>
          </a:prstGeom>
          <a:noFill/>
          <a:ln w="3810">
            <a:solidFill>
              <a:srgbClr val="D8BE6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5897880"/>
            <a:ext cx="548640" cy="548640"/>
          </a:xfrm>
          <a:prstGeom prst="ellipse">
            <a:avLst/>
          </a:prstGeom>
          <a:solidFill>
            <a:srgbClr val="002147"/>
          </a:solidFill>
          <a:ln w="15240">
            <a:solidFill>
              <a:srgbClr val="BFA4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5897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BFA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645920" y="58795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2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Tuzatishni oling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5029200" y="5879592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 to'g'ri variant + o'zbek izoh yuboradi.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389120" y="6428232"/>
            <a:ext cx="3657600" cy="0"/>
          </a:xfrm>
          <a:prstGeom prst="line">
            <a:avLst/>
          </a:prstGeom>
          <a:noFill/>
          <a:ln w="9525">
            <a:solidFill>
              <a:srgbClr val="BFA4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471546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kern="0" spc="400" dirty="0">
                <a:solidFill>
                  <a:srgbClr val="BFA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 FINIS -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48640" y="6629400"/>
            <a:ext cx="548640" cy="0"/>
          </a:xfrm>
          <a:prstGeom prst="line">
            <a:avLst/>
          </a:prstGeom>
          <a:noFill/>
          <a:ln w="15240">
            <a:solidFill>
              <a:srgbClr val="BFA44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80160" y="6495849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5B5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USTOZATION · AI TEACHER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079881" y="6492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BFA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/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777</Words>
  <Application>Microsoft Office PowerPoint</Application>
  <PresentationFormat>Широкоэкранный</PresentationFormat>
  <Paragraphs>178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Cambria</vt:lpstr>
      <vt:lpstr>Consolas</vt:lpstr>
      <vt:lpstr>Georgia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Teacher Guide</dc:title>
  <dc:subject>AI Teacher Assistant — User Guide</dc:subject>
  <dc:creator>Ustozation English</dc:creator>
  <cp:lastModifiedBy>Shum Bola</cp:lastModifiedBy>
  <cp:revision>2</cp:revision>
  <dcterms:created xsi:type="dcterms:W3CDTF">2026-04-19T10:43:07Z</dcterms:created>
  <dcterms:modified xsi:type="dcterms:W3CDTF">2026-04-19T11:04:50Z</dcterms:modified>
</cp:coreProperties>
</file>