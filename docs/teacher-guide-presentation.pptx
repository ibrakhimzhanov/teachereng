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2743200" cy="0"/>
          </a:xfrm>
          <a:prstGeom prst="line">
            <a:avLst/>
          </a:prstGeom>
          <a:noFill/>
          <a:ln w="12700">
            <a:solidFill>
              <a:srgbClr val="BFA4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 · MMXXVI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0" y="1463040"/>
            <a:ext cx="640080" cy="640080"/>
          </a:xfrm>
          <a:prstGeom prst="ellipse">
            <a:avLst/>
          </a:prstGeom>
          <a:solidFill>
            <a:srgbClr val="00152E"/>
          </a:solidFill>
          <a:ln w="19050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i="1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Ustozation English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2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Teacher Assistant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94760" y="457200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16752" y="4517136"/>
            <a:ext cx="128016" cy="128016"/>
          </a:xfrm>
          <a:prstGeom prst="ellipse">
            <a:avLst/>
          </a:prstGeom>
          <a:solidFill>
            <a:srgbClr val="BFA44C"/>
          </a:solidFill>
          <a:ln w="12700">
            <a:solidFill>
              <a:srgbClr val="BFA4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457200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F7F1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 UCHUN QO'LLANMA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49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practical guide to the word-of-the-day workflow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6217920"/>
            <a:ext cx="3657600" cy="0"/>
          </a:xfrm>
          <a:prstGeom prst="line">
            <a:avLst/>
          </a:prstGeom>
          <a:noFill/>
          <a:ln w="6350">
            <a:solidFill>
              <a:srgbClr val="BFA4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VOL. I · THE OXFORD METHOD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nima qiladi?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o'quvchilarning ingliz tilidagi gaplarini sharh oqimida avtomatik tekshirib, zudlik bilan tabiiy o'zbek tilida fikr bildiradi — ustozning kunlik yukini sezilarli kamaytiradi.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3108960"/>
            <a:ext cx="3566160" cy="3017520"/>
          </a:xfrm>
          <a:prstGeom prst="rect">
            <a:avLst/>
          </a:prstGeom>
          <a:solidFill>
            <a:srgbClr val="FBF7EC"/>
          </a:solidFill>
          <a:ln w="9525">
            <a:solidFill>
              <a:srgbClr val="BFA4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874520" y="4343400"/>
            <a:ext cx="640080" cy="0"/>
          </a:xfrm>
          <a:prstGeom prst="line">
            <a:avLst/>
          </a:prstGeom>
          <a:noFill/>
          <a:ln w="9525">
            <a:solidFill>
              <a:srgbClr val="002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Postni o'qiydi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Kanaldagi postdagi hashtag orqali kun so'zini aniqlaydi.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3108960"/>
            <a:ext cx="3566160" cy="3017520"/>
          </a:xfrm>
          <a:prstGeom prst="rect">
            <a:avLst/>
          </a:prstGeom>
          <a:solidFill>
            <a:srgbClr val="FBF7EC"/>
          </a:solidFill>
          <a:ln w="9525">
            <a:solidFill>
              <a:srgbClr val="BFA4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5760720" y="4343400"/>
            <a:ext cx="640080" cy="0"/>
          </a:xfrm>
          <a:prstGeom prst="line">
            <a:avLst/>
          </a:prstGeom>
          <a:noFill/>
          <a:ln w="9525">
            <a:solidFill>
              <a:srgbClr val="002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Sharhni tekshiradi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Grammatika va so'zning to'g'ri ma'noda ishlatilganini baholaydi.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3880" y="3108960"/>
            <a:ext cx="3566160" cy="3017520"/>
          </a:xfrm>
          <a:prstGeom prst="rect">
            <a:avLst/>
          </a:prstGeom>
          <a:solidFill>
            <a:srgbClr val="FBF7EC"/>
          </a:solidFill>
          <a:ln w="9525">
            <a:solidFill>
              <a:srgbClr val="BFA4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9646920" y="4343400"/>
            <a:ext cx="640080" cy="0"/>
          </a:xfrm>
          <a:prstGeom prst="line">
            <a:avLst/>
          </a:prstGeom>
          <a:noFill/>
          <a:ln w="9525">
            <a:solidFill>
              <a:srgbClr val="0021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Javob yozadi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5820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Maqtov yoki to'g'ri variant + o'zbek tilida qisqa izoh beradi.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30936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II ·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Postni e'lon qilish: 1-variant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 ishonchli yo'l — postga aniq marker qo'shish.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5486400" cy="3200400"/>
          </a:xfrm>
          <a:prstGeom prst="rect">
            <a:avLst/>
          </a:prstGeom>
          <a:solidFill>
            <a:srgbClr val="002147"/>
          </a:solidFill>
          <a:ln w="12700">
            <a:solidFill>
              <a:srgbClr val="BFA4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697480"/>
            <a:ext cx="109728" cy="3200400"/>
          </a:xfrm>
          <a:prstGeom prst="rect">
            <a:avLst/>
          </a:prstGeom>
          <a:solidFill>
            <a:srgbClr val="BFA44C"/>
          </a:solidFill>
          <a:ln w="12700">
            <a:solidFill>
              <a:srgbClr val="BFA4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SAMPLE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315468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8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#word_leverage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22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Bugun "leverage" so'zini o'rganamiz —</a:t>
            </a:r>
            <a:endParaRPr lang="en-US" sz="22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foyda uchun ishlatmoq, ustunlikka aylantirmoq.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 </a:t>
            </a:r>
            <a:endParaRPr lang="en-US" sz="22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0A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tuzing, tekshirib beramiz.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 UCHUN MARKER?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30175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ushbu formatni 100% ishonchli topa oladi va ikki xil so'zni aralashtirib yubormaydi.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4114800"/>
            <a:ext cx="9144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QOIDA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45262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Marker </a:t>
            </a:r>
            <a:pPr indent="0" marL="0">
              <a:buNone/>
            </a:pPr>
            <a:r>
              <a:rPr lang="en-US" sz="1400" b="1" dirty="0">
                <a:solidFill>
                  <a:srgbClr val="002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</a:t>
            </a:r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prefiksi bilan boshlanadi, so'ngra o'rganilayotgan so'z keladi.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630936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II ·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Postni e'lon qilish: 2-variant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Agar postda faqat bitta hashtag bo'lsa, u avtomatik ravishda kun so'zi deb qabul qilinadi.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4937760" cy="3200400"/>
          </a:xfrm>
          <a:prstGeom prst="rect">
            <a:avLst/>
          </a:prstGeom>
          <a:solidFill>
            <a:srgbClr val="002147"/>
          </a:solidFill>
          <a:ln w="12700">
            <a:solidFill>
              <a:srgbClr val="BFA4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743200"/>
            <a:ext cx="109728" cy="3200400"/>
          </a:xfrm>
          <a:prstGeom prst="rect">
            <a:avLst/>
          </a:prstGeom>
          <a:solidFill>
            <a:srgbClr val="BFA44C"/>
          </a:solidFill>
          <a:ln w="12700">
            <a:solidFill>
              <a:srgbClr val="BFA4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MISOL 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3291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E8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#Leverage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34440" y="4297680"/>
            <a:ext cx="4572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44348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Ushbu so'zga gap tuzing. Tekshirib berish bizdan.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2743200"/>
            <a:ext cx="4937760" cy="3200400"/>
          </a:xfrm>
          <a:prstGeom prst="rect">
            <a:avLst/>
          </a:prstGeom>
          <a:solidFill>
            <a:srgbClr val="002147"/>
          </a:solidFill>
          <a:ln w="12700">
            <a:solidFill>
              <a:srgbClr val="BFA4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2743200"/>
            <a:ext cx="109728" cy="3200400"/>
          </a:xfrm>
          <a:prstGeom prst="rect">
            <a:avLst/>
          </a:prstGeom>
          <a:solidFill>
            <a:srgbClr val="BFA44C"/>
          </a:solidFill>
          <a:ln w="12700">
            <a:solidFill>
              <a:srgbClr val="BFA4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MISOL 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20840" y="3291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E8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#give_up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720840" y="4297680"/>
            <a:ext cx="4572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44348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sentences using this phrasal verb.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hashtag matnini kun so'zi sifatida qabul qiladi. Katta/kichik harf farqsiz.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630936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Ko'p so'zli iboralar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 hashtaglari bo'sh joyni qabul qilmaydi — shu sababli ko'p so'zli iboralarni pastki chiziq orqali yozamiz.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10515600" cy="502920"/>
          </a:xfrm>
          <a:prstGeom prst="rect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HASHTAG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MAQSADLI IBORA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MA'NOSI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10515600" cy="685800"/>
          </a:xfrm>
          <a:prstGeom prst="rect">
            <a:avLst/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3375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#word_look_up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33375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97680" y="3337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up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66560" y="3337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so'zni izlash, lug'atda topish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023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#word_give_up_on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40233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297680" y="4023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up 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66560" y="4023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kimdan / nimadan umid uzmoq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709160"/>
            <a:ext cx="10515600" cy="685800"/>
          </a:xfrm>
          <a:prstGeom prst="rect">
            <a:avLst/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709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#word_run_out_of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49040" y="47091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297680" y="4709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out of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66560" y="4709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nimanidir tugatib qo'ymoq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5394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#word_break_down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49040" y="53949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297680" y="5394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down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766560" y="53949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ishdan chiqmoq, buzilmoq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" y="6080760"/>
            <a:ext cx="105156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Qoida: bo'sh joy o'rniga pastki chiziq. Bot o'zi uni bo'sh joyga qaytarib beradi.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630936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Nimadan qochish kerak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Uchta xato bot ishlashini buzadi — quyida ularning ko'rinishi va tuzatilishi.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2743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#english  #vocabulary  #leverage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3200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Ko'p hashtag — qaysi biri maqsad?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2834640"/>
            <a:ext cx="0" cy="822960"/>
          </a:xfrm>
          <a:prstGeom prst="line">
            <a:avLst/>
          </a:prstGeom>
          <a:noFill/>
          <a:ln w="6350">
            <a:solidFill>
              <a:srgbClr val="BFA4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6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63640" y="2743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6E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#word_leverage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32004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Bitta aniq marker.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10698480" cy="0"/>
          </a:xfrm>
          <a:prstGeom prst="line">
            <a:avLst/>
          </a:prstGeom>
          <a:noFill/>
          <a:ln w="3810">
            <a:solidFill>
              <a:srgbClr val="D8BE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(hech qanday hashtag yo'q)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389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Hashtagsiz post — bot e'tibor bermaydi.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4023360"/>
            <a:ext cx="0" cy="822960"/>
          </a:xfrm>
          <a:prstGeom prst="line">
            <a:avLst/>
          </a:prstGeom>
          <a:noFill/>
          <a:ln w="6350">
            <a:solidFill>
              <a:srgbClr val="BFA4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6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3931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6E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#Leverage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43891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Oddiygina bitta hashtag yetarli.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5029200"/>
            <a:ext cx="10698480" cy="0"/>
          </a:xfrm>
          <a:prstGeom prst="line">
            <a:avLst/>
          </a:prstGeom>
          <a:noFill/>
          <a:ln w="3810">
            <a:solidFill>
              <a:srgbClr val="D8BE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166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34440" y="5120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#so'z_o'rganing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5577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Maqsad so'z ingliz tilida bo'lmasa, bot tekshira olmaydi.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77840" y="5212080"/>
            <a:ext cx="0" cy="822960"/>
          </a:xfrm>
          <a:prstGeom prst="line">
            <a:avLst/>
          </a:prstGeom>
          <a:noFill/>
          <a:ln w="6350">
            <a:solidFill>
              <a:srgbClr val="BFA4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5166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6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63640" y="5120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6E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#word_learn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63640" y="5577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Ingliz tilidagi so'z.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30936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qanday javob beradi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har bir sharhni tekshirib, vaziyatga qarab tabiiy o'zbek tilida javob beradi.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VAZIYAT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REAKSIYA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10515600" cy="530352"/>
          </a:xfrm>
          <a:prstGeom prst="rect">
            <a:avLst/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10896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to'g'ri, so'z ishlatilgan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310896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Qisqa, iliq maqtov — har safar boshqacha formulirovka.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63931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Grammatik xato bor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363931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To'g'ri variant (inglizcha) + o'zbek tilida qisqa tushuntirish.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169664"/>
            <a:ext cx="10515600" cy="530352"/>
          </a:xfrm>
          <a:prstGeom prst="rect">
            <a:avLst/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6966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So'z noto'g'ri ma'noda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416966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 belgilab, to'g'ri kontekstda misol keltiradi.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70001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So'z umuman ishlatilmagan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470001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Yumshoq eslatma + gap namunasi.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230368"/>
            <a:ext cx="10515600" cy="530352"/>
          </a:xfrm>
          <a:prstGeom prst="rect">
            <a:avLst/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23036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Sharh o'zbek yoki rus tilida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523036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Jim kuzatadi, javob bermaydi.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57607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Qo'pol yoki mavzudan chetda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57607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Jim kuzatadi, aralashmaydi.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6291072"/>
            <a:ext cx="105156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630936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01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VI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Dastlabki sozlash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ishga tushishi uchun bir martalik uchta shart bajariladi.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27889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Kanal admini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324612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kanalda admin sifatida qo'shilsin — post matnini o'qiy oladi.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10515600" cy="0"/>
          </a:xfrm>
          <a:prstGeom prst="line">
            <a:avLst/>
          </a:prstGeom>
          <a:noFill/>
          <a:ln w="5080">
            <a:solidFill>
              <a:srgbClr val="D8BE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023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828800" y="40233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Sharh guruhida admin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44805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Kanalga bog'langan sharh-guruhda ham admin qilinadi — sharhlarni o'qish va ularga javob berish uchun.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5080">
            <a:solidFill>
              <a:srgbClr val="D8BE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257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828800" y="52578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off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28800" y="571500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@BotFather da: /setprivacy → bot tanlanadi → Disable. Shundan so'ng bot guruhda faqat /buyruqlarni emas, har bir sharhni ham ko'radi.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30936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VII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Haftalik hisobot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5303520" cy="3931920"/>
          </a:xfrm>
          <a:prstGeom prst="rect">
            <a:avLst/>
          </a:prstGeom>
          <a:solidFill>
            <a:srgbClr val="00152E"/>
          </a:solidFill>
          <a:ln w="9525">
            <a:solidFill>
              <a:srgbClr val="BFA4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 YAKSHANBA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i="1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20:00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3017520" y="4754880"/>
            <a:ext cx="914400" cy="0"/>
          </a:xfrm>
          <a:prstGeom prst="line">
            <a:avLst/>
          </a:prstGeom>
          <a:noFill/>
          <a:ln w="6350">
            <a:solidFill>
              <a:srgbClr val="BFA4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TOSHKENT VAQTI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5394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sizga shaxsiy xabar yuboradi.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NIMALAR KIRADI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31520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1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Jami tekshirilgan gaplar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3401568"/>
            <a:ext cx="4937760" cy="0"/>
          </a:xfrm>
          <a:prstGeom prst="line">
            <a:avLst/>
          </a:prstGeom>
          <a:noFill/>
          <a:ln w="3810">
            <a:solidFill>
              <a:srgbClr val="BFA4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520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15200" y="3611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1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To'g'ri javoblar foizi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4178808"/>
            <a:ext cx="4937760" cy="0"/>
          </a:xfrm>
          <a:prstGeom prst="line">
            <a:avLst/>
          </a:prstGeom>
          <a:noFill/>
          <a:ln w="3810">
            <a:solidFill>
              <a:srgbClr val="BFA4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297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15200" y="4389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1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 foizi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4956048"/>
            <a:ext cx="4937760" cy="0"/>
          </a:xfrm>
          <a:prstGeom prst="line">
            <a:avLst/>
          </a:prstGeom>
          <a:noFill/>
          <a:ln w="3810">
            <a:solidFill>
              <a:srgbClr val="BFA4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5074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15200" y="5166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1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Haftaning eng ko'p uch so'zi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630936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0A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Boshlash uchun — tezkor test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Quyidagi 5 qadam orqali bot ishini uchdan-uchiga tekshiring.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548640" cy="548640"/>
          </a:xfrm>
          <a:prstGeom prst="ellipse">
            <a:avLst/>
          </a:prstGeom>
          <a:solidFill>
            <a:srgbClr val="002147"/>
          </a:solidFill>
          <a:ln w="15240">
            <a:solidFill>
              <a:srgbClr val="BFA4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770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Kanalga post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0" y="277063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#word_leverage bilan yangi post chiqaring.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3429000"/>
            <a:ext cx="9692640" cy="0"/>
          </a:xfrm>
          <a:prstGeom prst="line">
            <a:avLst/>
          </a:prstGeom>
          <a:noFill/>
          <a:ln w="3810">
            <a:solidFill>
              <a:srgbClr val="D8BE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566160"/>
            <a:ext cx="548640" cy="548640"/>
          </a:xfrm>
          <a:prstGeom prst="ellipse">
            <a:avLst/>
          </a:prstGeom>
          <a:solidFill>
            <a:srgbClr val="002147"/>
          </a:solidFill>
          <a:ln w="15240">
            <a:solidFill>
              <a:srgbClr val="BFA4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3547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Sharh yozing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0" y="354787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leverage my skills to grow faster.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45920" y="4206240"/>
            <a:ext cx="9692640" cy="0"/>
          </a:xfrm>
          <a:prstGeom prst="line">
            <a:avLst/>
          </a:prstGeom>
          <a:noFill/>
          <a:ln w="3810">
            <a:solidFill>
              <a:srgbClr val="D8BE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002147"/>
          </a:solidFill>
          <a:ln w="15240">
            <a:solidFill>
              <a:srgbClr val="BFA4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325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Javobni kuting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0" y="432511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necha soniya — bot maqtov bilan javob beradi.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645920" y="4983480"/>
            <a:ext cx="9692640" cy="0"/>
          </a:xfrm>
          <a:prstGeom prst="line">
            <a:avLst/>
          </a:prstGeom>
          <a:noFill/>
          <a:ln w="3810">
            <a:solidFill>
              <a:srgbClr val="D8BE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120640"/>
            <a:ext cx="548640" cy="548640"/>
          </a:xfrm>
          <a:prstGeom prst="ellipse">
            <a:avLst/>
          </a:prstGeom>
          <a:solidFill>
            <a:srgbClr val="002147"/>
          </a:solidFill>
          <a:ln w="15240">
            <a:solidFill>
              <a:srgbClr val="BFA4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5102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Xato bilan sharh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29200" y="510235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leveraging my English — ataylab xato.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645920" y="5760720"/>
            <a:ext cx="9692640" cy="0"/>
          </a:xfrm>
          <a:prstGeom prst="line">
            <a:avLst/>
          </a:prstGeom>
          <a:noFill/>
          <a:ln w="3810">
            <a:solidFill>
              <a:srgbClr val="D8BE6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897880"/>
            <a:ext cx="548640" cy="548640"/>
          </a:xfrm>
          <a:prstGeom prst="ellipse">
            <a:avLst/>
          </a:prstGeom>
          <a:solidFill>
            <a:srgbClr val="002147"/>
          </a:solidFill>
          <a:ln w="15240">
            <a:solidFill>
              <a:srgbClr val="BFA4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897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45920" y="5879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Tuzatishni oling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29200" y="58795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to'g'ri variant + o'zbek izoh yuboradi.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51960" y="5486400"/>
            <a:ext cx="36576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400" kern="0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FINIS —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630936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Teacher Guide</dc:title>
  <dc:subject>AI Teacher Assistant — User Guide</dc:subject>
  <dc:creator>Ustozation English</dc:creator>
  <cp:lastModifiedBy>Ustozation English</cp:lastModifiedBy>
  <cp:revision>1</cp:revision>
  <dcterms:created xsi:type="dcterms:W3CDTF">2026-04-19T10:43:07Z</dcterms:created>
  <dcterms:modified xsi:type="dcterms:W3CDTF">2026-04-19T10:43:07Z</dcterms:modified>
</cp:coreProperties>
</file>